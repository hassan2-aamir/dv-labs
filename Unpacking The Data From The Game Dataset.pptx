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4" autoAdjust="0"/>
    <p:restoredTop sz="94660"/>
  </p:normalViewPr>
  <p:slideViewPr>
    <p:cSldViewPr snapToGrid="0">
      <p:cViewPr varScale="1">
        <p:scale>
          <a:sx n="59" d="100"/>
          <a:sy n="59" d="100"/>
        </p:scale>
        <p:origin x="9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10E7-7526-AF22-8DBD-4291A07754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9D7B11-4793-CA71-F8D1-3E41966D2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5F9A10-5AB3-1E8C-88CB-F912849D246B}"/>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3B71BB05-1194-9B3E-DD59-C8124AACB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526CE3-7673-1E26-BC08-4810D07D6758}"/>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1890699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3FE9E-50AB-F7C9-46D6-E9FA533484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0B99A1-0361-9DAA-A250-E0C545C2EA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478571-930D-D117-C407-D22C29492F59}"/>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3FAB0B05-27E5-F7F6-2158-836ED9CAE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C086F-ADCF-7CDA-1AA5-288F9546FDCE}"/>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2161265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A53E9-7C2A-6269-E895-E617A002FE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13512B-8CF3-6C7B-B423-F9C81D80B0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712DB9-47DC-06B1-1823-A3AC8036C788}"/>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C9F20A1A-CC7A-EBCD-85C0-B16A21F42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1CD502-80C3-8824-62FA-A80027AFC033}"/>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318816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FD10-F338-8942-4F86-A866A2C45C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E67E-7850-E680-4D05-3B5D8AD123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992089-8C87-1E9E-586B-61249BE07F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CF73F2-A27B-FEF7-1BFD-700BBC174F70}"/>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6" name="Footer Placeholder 5">
            <a:extLst>
              <a:ext uri="{FF2B5EF4-FFF2-40B4-BE49-F238E27FC236}">
                <a16:creationId xmlns:a16="http://schemas.microsoft.com/office/drawing/2014/main" id="{12161BF9-91A8-A57D-89E7-918E87377A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2F7BD6-FC85-BD30-292E-D2639717D464}"/>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375472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310FA-7E02-BAFC-B544-A7C3DC18D9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067010-2067-A93F-A8BF-1145EDFE6C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0319BC-C6EE-1D28-4503-AA8A80A14A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92A5E7-970C-53A4-3C23-F86DA4DA53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4299AA-3AF7-8425-12D7-9AD0AB993D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C8CF7-3C7B-73F2-C28A-D5E0554B2982}"/>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8" name="Footer Placeholder 7">
            <a:extLst>
              <a:ext uri="{FF2B5EF4-FFF2-40B4-BE49-F238E27FC236}">
                <a16:creationId xmlns:a16="http://schemas.microsoft.com/office/drawing/2014/main" id="{8C941C52-8559-B870-9832-7F37F40BB9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D921D4-5B0C-5191-CDA0-932FC1B1939C}"/>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2972779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B554-3C26-D609-E980-502455E17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8A623-14CA-65F9-7C9D-864071424CAC}"/>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4" name="Footer Placeholder 3">
            <a:extLst>
              <a:ext uri="{FF2B5EF4-FFF2-40B4-BE49-F238E27FC236}">
                <a16:creationId xmlns:a16="http://schemas.microsoft.com/office/drawing/2014/main" id="{E7BB8A58-5B75-422B-BA2E-B69B312CBA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13A64C-0967-BAAB-A2E9-A18C2EE99010}"/>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76787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ED35E-EE40-A317-E107-A68C93069E47}"/>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3" name="Footer Placeholder 2">
            <a:extLst>
              <a:ext uri="{FF2B5EF4-FFF2-40B4-BE49-F238E27FC236}">
                <a16:creationId xmlns:a16="http://schemas.microsoft.com/office/drawing/2014/main" id="{3C82315E-831F-AE91-B853-89786CD46F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3C990B-21CB-0036-61DA-563702BF1498}"/>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1634284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A2126-3B87-66F2-87DC-E390B018FD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CBB27-AE04-024B-C2AA-160B5E259B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6865EE-2CBB-1EB5-618E-BBFBB78B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F57263-29C1-0112-F830-34B294200B41}"/>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6" name="Footer Placeholder 5">
            <a:extLst>
              <a:ext uri="{FF2B5EF4-FFF2-40B4-BE49-F238E27FC236}">
                <a16:creationId xmlns:a16="http://schemas.microsoft.com/office/drawing/2014/main" id="{1B2E3420-DC64-F95C-29FA-7395A73DC7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DCD31B-4D24-CBE7-210D-4727B8B899BE}"/>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2863014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1FC6E-C889-4487-5A61-4EA2639CD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6173BF-2D0A-2A4C-B3A7-B1F19BF4D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BBD5B7-2CCA-3ED6-4F3D-5388DC25C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6EC15F-6656-434D-2769-9B2540796D05}"/>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6" name="Footer Placeholder 5">
            <a:extLst>
              <a:ext uri="{FF2B5EF4-FFF2-40B4-BE49-F238E27FC236}">
                <a16:creationId xmlns:a16="http://schemas.microsoft.com/office/drawing/2014/main" id="{905484D1-39DD-3B68-490A-BF939E88F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C3158B-CA72-9CFA-5BD4-BB41AC7B4913}"/>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1634069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706B0-C486-6DCB-3787-EABE8B4312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1ED1D5-B2BD-D7A7-99E4-1A2066BCB9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888922-3234-1641-6C84-F438FCABA7E0}"/>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1DCF4AE3-4DFA-70B0-E32E-E45A455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A42BCB-8E94-7E01-FD6F-C46E2A35053A}"/>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2890960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B73067-7FE9-0BEC-64B5-C7360B447C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1E3777-E2B8-F452-D851-36E00783B4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34041-D32B-ADA0-003C-DD9EB7C88D1A}"/>
              </a:ext>
            </a:extLst>
          </p:cNvPr>
          <p:cNvSpPr>
            <a:spLocks noGrp="1"/>
          </p:cNvSpPr>
          <p:nvPr>
            <p:ph type="dt" sz="half" idx="10"/>
          </p:nvPr>
        </p:nvSpPr>
        <p:spPr/>
        <p:txBody>
          <a:body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A0319E1C-26C0-D735-E754-78FA2CCCFB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87A5A-CD97-3919-BC4B-0BB56A3ADB20}"/>
              </a:ext>
            </a:extLst>
          </p:cNvPr>
          <p:cNvSpPr>
            <a:spLocks noGrp="1"/>
          </p:cNvSpPr>
          <p:nvPr>
            <p:ph type="sldNum" sz="quarter" idx="12"/>
          </p:nvPr>
        </p:nvSpPr>
        <p:spPr/>
        <p:txBody>
          <a:bodyPr/>
          <a:lstStyle/>
          <a:p>
            <a:fld id="{6120BF4A-FB95-4BF0-89A8-2079552840DF}" type="slidenum">
              <a:rPr lang="en-US" smtClean="0"/>
              <a:t>‹#›</a:t>
            </a:fld>
            <a:endParaRPr lang="en-US"/>
          </a:p>
        </p:txBody>
      </p:sp>
    </p:spTree>
    <p:extLst>
      <p:ext uri="{BB962C8B-B14F-4D97-AF65-F5344CB8AC3E}">
        <p14:creationId xmlns:p14="http://schemas.microsoft.com/office/powerpoint/2010/main" val="180538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9C25E6-5872-4081-81C2-3AE36E316D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DCF660-723E-C057-F197-592EC53AE1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C3813-3F03-9553-385B-5829C1BA3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01B6B4-6072-475C-A127-A5B56F101854}" type="datetimeFigureOut">
              <a:rPr lang="en-US" smtClean="0"/>
              <a:t>11/23/2025</a:t>
            </a:fld>
            <a:endParaRPr lang="en-US"/>
          </a:p>
        </p:txBody>
      </p:sp>
      <p:sp>
        <p:nvSpPr>
          <p:cNvPr id="5" name="Footer Placeholder 4">
            <a:extLst>
              <a:ext uri="{FF2B5EF4-FFF2-40B4-BE49-F238E27FC236}">
                <a16:creationId xmlns:a16="http://schemas.microsoft.com/office/drawing/2014/main" id="{689F40FF-1EF0-3663-4753-1DB559A28B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CBFE04-5BCB-897E-25A3-C9C207B32B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20BF4A-FB95-4BF0-89A8-2079552840DF}" type="slidenum">
              <a:rPr lang="en-US" smtClean="0"/>
              <a:t>‹#›</a:t>
            </a:fld>
            <a:endParaRPr lang="en-US"/>
          </a:p>
        </p:txBody>
      </p:sp>
    </p:spTree>
    <p:extLst>
      <p:ext uri="{BB962C8B-B14F-4D97-AF65-F5344CB8AC3E}">
        <p14:creationId xmlns:p14="http://schemas.microsoft.com/office/powerpoint/2010/main" val="2148958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3D8D-BEC7-41B1-3204-468E667329B8}"/>
              </a:ext>
            </a:extLst>
          </p:cNvPr>
          <p:cNvSpPr>
            <a:spLocks noGrp="1"/>
          </p:cNvSpPr>
          <p:nvPr>
            <p:ph type="ctrTitle"/>
          </p:nvPr>
        </p:nvSpPr>
        <p:spPr/>
        <p:txBody>
          <a:bodyPr/>
          <a:lstStyle/>
          <a:p>
            <a:r>
              <a:rPr lang="en-US" dirty="0"/>
              <a:t>Unpacking The Data From The Game Dataset</a:t>
            </a:r>
          </a:p>
        </p:txBody>
      </p:sp>
      <p:sp>
        <p:nvSpPr>
          <p:cNvPr id="3" name="Subtitle 2">
            <a:extLst>
              <a:ext uri="{FF2B5EF4-FFF2-40B4-BE49-F238E27FC236}">
                <a16:creationId xmlns:a16="http://schemas.microsoft.com/office/drawing/2014/main" id="{9309F885-683B-D28B-81DF-B2967FD9D65B}"/>
              </a:ext>
            </a:extLst>
          </p:cNvPr>
          <p:cNvSpPr>
            <a:spLocks noGrp="1"/>
          </p:cNvSpPr>
          <p:nvPr>
            <p:ph type="subTitle" idx="1"/>
          </p:nvPr>
        </p:nvSpPr>
        <p:spPr/>
        <p:txBody>
          <a:bodyPr/>
          <a:lstStyle/>
          <a:p>
            <a:r>
              <a:rPr lang="en-US" dirty="0"/>
              <a:t>Hassan Aamir</a:t>
            </a:r>
          </a:p>
          <a:p>
            <a:r>
              <a:rPr lang="en-US" dirty="0"/>
              <a:t>453976</a:t>
            </a:r>
          </a:p>
          <a:p>
            <a:r>
              <a:rPr lang="en-US" dirty="0"/>
              <a:t>BSCS13D</a:t>
            </a:r>
          </a:p>
        </p:txBody>
      </p:sp>
    </p:spTree>
    <p:extLst>
      <p:ext uri="{BB962C8B-B14F-4D97-AF65-F5344CB8AC3E}">
        <p14:creationId xmlns:p14="http://schemas.microsoft.com/office/powerpoint/2010/main" val="324687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C1E11-02B9-92AC-3146-AA8BE6FA8EBC}"/>
              </a:ext>
            </a:extLst>
          </p:cNvPr>
          <p:cNvSpPr>
            <a:spLocks noGrp="1"/>
          </p:cNvSpPr>
          <p:nvPr>
            <p:ph type="title"/>
          </p:nvPr>
        </p:nvSpPr>
        <p:spPr>
          <a:xfrm>
            <a:off x="838200" y="812597"/>
            <a:ext cx="10515600" cy="1325563"/>
          </a:xfrm>
        </p:spPr>
        <p:txBody>
          <a:bodyPr/>
          <a:lstStyle/>
          <a:p>
            <a:pPr algn="ctr"/>
            <a:r>
              <a:rPr lang="en-US" dirty="0"/>
              <a:t>How does performance </a:t>
            </a:r>
            <a:br>
              <a:rPr lang="en-US" dirty="0"/>
            </a:br>
            <a:r>
              <a:rPr lang="en-US" dirty="0"/>
              <a:t>vary with prestige?</a:t>
            </a:r>
          </a:p>
        </p:txBody>
      </p:sp>
      <p:sp>
        <p:nvSpPr>
          <p:cNvPr id="3" name="Content Placeholder 2">
            <a:extLst>
              <a:ext uri="{FF2B5EF4-FFF2-40B4-BE49-F238E27FC236}">
                <a16:creationId xmlns:a16="http://schemas.microsoft.com/office/drawing/2014/main" id="{67CBD8F0-429C-54C1-3371-79B61FCAD267}"/>
              </a:ext>
            </a:extLst>
          </p:cNvPr>
          <p:cNvSpPr>
            <a:spLocks noGrp="1"/>
          </p:cNvSpPr>
          <p:nvPr>
            <p:ph idx="1"/>
          </p:nvPr>
        </p:nvSpPr>
        <p:spPr>
          <a:xfrm>
            <a:off x="2394284" y="2504991"/>
            <a:ext cx="7403432" cy="1848017"/>
          </a:xfrm>
        </p:spPr>
        <p:txBody>
          <a:bodyPr/>
          <a:lstStyle/>
          <a:p>
            <a:pPr marL="0" indent="0" algn="ctr">
              <a:buNone/>
            </a:pPr>
            <a:r>
              <a:rPr lang="en-US" dirty="0"/>
              <a:t>Not all countries compete equally across all prestige levels. Each nation exhibits a distinct prestige profile, a strategic reflection of its unique capabilities and focus areas.</a:t>
            </a:r>
          </a:p>
          <a:p>
            <a:endParaRPr lang="en-US" dirty="0"/>
          </a:p>
        </p:txBody>
      </p:sp>
    </p:spTree>
    <p:extLst>
      <p:ext uri="{BB962C8B-B14F-4D97-AF65-F5344CB8AC3E}">
        <p14:creationId xmlns:p14="http://schemas.microsoft.com/office/powerpoint/2010/main" val="168030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62ECD-E4EB-B529-3555-36CC37E76D70}"/>
              </a:ext>
            </a:extLst>
          </p:cNvPr>
          <p:cNvSpPr>
            <a:spLocks noGrp="1"/>
          </p:cNvSpPr>
          <p:nvPr>
            <p:ph idx="1"/>
          </p:nvPr>
        </p:nvSpPr>
        <p:spPr>
          <a:xfrm>
            <a:off x="7603957" y="1503947"/>
            <a:ext cx="3994485" cy="3850105"/>
          </a:xfrm>
        </p:spPr>
        <p:txBody>
          <a:bodyPr>
            <a:normAutofit lnSpcReduction="10000"/>
          </a:bodyPr>
          <a:lstStyle/>
          <a:p>
            <a:r>
              <a:rPr lang="en-US" dirty="0"/>
              <a:t>Each country has a prestige sweet spot, wherein they win more medals</a:t>
            </a:r>
          </a:p>
          <a:p>
            <a:r>
              <a:rPr lang="en-US" dirty="0"/>
              <a:t>We can see that Pakistan’s share of medals is highly concentrated in the lower prestige quartile – Quartile 1. </a:t>
            </a:r>
          </a:p>
          <a:p>
            <a:pPr marL="0" indent="0">
              <a:buNone/>
            </a:pPr>
            <a:endParaRPr lang="en-US" dirty="0"/>
          </a:p>
        </p:txBody>
      </p:sp>
      <p:pic>
        <p:nvPicPr>
          <p:cNvPr id="4" name="Picture 3" descr="A graph of different colored squares&#10;&#10;AI-generated content may be incorrect.">
            <a:extLst>
              <a:ext uri="{FF2B5EF4-FFF2-40B4-BE49-F238E27FC236}">
                <a16:creationId xmlns:a16="http://schemas.microsoft.com/office/drawing/2014/main" id="{04BD1884-AB85-CE2A-5AAE-325425526996}"/>
              </a:ext>
            </a:extLst>
          </p:cNvPr>
          <p:cNvPicPr>
            <a:picLocks noChangeAspect="1"/>
          </p:cNvPicPr>
          <p:nvPr/>
        </p:nvPicPr>
        <p:blipFill>
          <a:blip r:embed="rId2"/>
          <a:stretch>
            <a:fillRect/>
          </a:stretch>
        </p:blipFill>
        <p:spPr>
          <a:xfrm>
            <a:off x="423110" y="1503947"/>
            <a:ext cx="6923531" cy="3850105"/>
          </a:xfrm>
          <a:prstGeom prst="rect">
            <a:avLst/>
          </a:prstGeom>
        </p:spPr>
      </p:pic>
    </p:spTree>
    <p:extLst>
      <p:ext uri="{BB962C8B-B14F-4D97-AF65-F5344CB8AC3E}">
        <p14:creationId xmlns:p14="http://schemas.microsoft.com/office/powerpoint/2010/main" val="21644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ADE02-AA62-4D15-9D55-699A5B5354EE}"/>
              </a:ext>
            </a:extLst>
          </p:cNvPr>
          <p:cNvSpPr>
            <a:spLocks noGrp="1"/>
          </p:cNvSpPr>
          <p:nvPr>
            <p:ph idx="1"/>
          </p:nvPr>
        </p:nvSpPr>
        <p:spPr>
          <a:xfrm>
            <a:off x="551675" y="1211093"/>
            <a:ext cx="3632487" cy="4435814"/>
          </a:xfrm>
        </p:spPr>
        <p:txBody>
          <a:bodyPr>
            <a:normAutofit fontScale="92500" lnSpcReduction="20000"/>
          </a:bodyPr>
          <a:lstStyle/>
          <a:p>
            <a:r>
              <a:rPr lang="en-US" dirty="0"/>
              <a:t>CN, who have the highest medals, have the highest share from lower prestige games – Q1</a:t>
            </a:r>
          </a:p>
          <a:p>
            <a:r>
              <a:rPr lang="en-US" dirty="0"/>
              <a:t>USA on 2</a:t>
            </a:r>
            <a:r>
              <a:rPr lang="en-US" baseline="30000" dirty="0"/>
              <a:t>nd</a:t>
            </a:r>
            <a:r>
              <a:rPr lang="en-US" dirty="0"/>
              <a:t> have the highest share of medals from the highest prestige games – Q4</a:t>
            </a:r>
          </a:p>
          <a:p>
            <a:r>
              <a:rPr lang="en-US" dirty="0"/>
              <a:t>This shows the different strategies taken by each country</a:t>
            </a:r>
          </a:p>
        </p:txBody>
      </p:sp>
      <p:pic>
        <p:nvPicPr>
          <p:cNvPr id="4" name="Picture 3" descr="A graph with different colored squares&#10;&#10;AI-generated content may be incorrect.">
            <a:extLst>
              <a:ext uri="{FF2B5EF4-FFF2-40B4-BE49-F238E27FC236}">
                <a16:creationId xmlns:a16="http://schemas.microsoft.com/office/drawing/2014/main" id="{2690121C-D9B3-0C2A-3F00-82B357B4976D}"/>
              </a:ext>
            </a:extLst>
          </p:cNvPr>
          <p:cNvPicPr>
            <a:picLocks noChangeAspect="1"/>
          </p:cNvPicPr>
          <p:nvPr/>
        </p:nvPicPr>
        <p:blipFill>
          <a:blip r:embed="rId2"/>
          <a:stretch>
            <a:fillRect/>
          </a:stretch>
        </p:blipFill>
        <p:spPr>
          <a:xfrm>
            <a:off x="4766588" y="1571035"/>
            <a:ext cx="6873737" cy="3715930"/>
          </a:xfrm>
          <a:prstGeom prst="rect">
            <a:avLst/>
          </a:prstGeom>
        </p:spPr>
      </p:pic>
    </p:spTree>
    <p:extLst>
      <p:ext uri="{BB962C8B-B14F-4D97-AF65-F5344CB8AC3E}">
        <p14:creationId xmlns:p14="http://schemas.microsoft.com/office/powerpoint/2010/main" val="3561847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1D704-15AE-FFBF-6A1D-3CA166821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D77D8-D7A1-7D90-88C1-E5679C4A63E6}"/>
              </a:ext>
            </a:extLst>
          </p:cNvPr>
          <p:cNvSpPr>
            <a:spLocks noGrp="1"/>
          </p:cNvSpPr>
          <p:nvPr>
            <p:ph type="title"/>
          </p:nvPr>
        </p:nvSpPr>
        <p:spPr>
          <a:xfrm>
            <a:off x="838200" y="812597"/>
            <a:ext cx="10515600" cy="1325563"/>
          </a:xfrm>
        </p:spPr>
        <p:txBody>
          <a:bodyPr/>
          <a:lstStyle/>
          <a:p>
            <a:pPr algn="ctr"/>
            <a:r>
              <a:rPr lang="en-US" dirty="0"/>
              <a:t>Group Structure and Prestige</a:t>
            </a:r>
          </a:p>
        </p:txBody>
      </p:sp>
      <p:sp>
        <p:nvSpPr>
          <p:cNvPr id="3" name="Content Placeholder 2">
            <a:extLst>
              <a:ext uri="{FF2B5EF4-FFF2-40B4-BE49-F238E27FC236}">
                <a16:creationId xmlns:a16="http://schemas.microsoft.com/office/drawing/2014/main" id="{A194D43C-A4B5-6207-862E-B96E4CB6C71C}"/>
              </a:ext>
            </a:extLst>
          </p:cNvPr>
          <p:cNvSpPr>
            <a:spLocks noGrp="1"/>
          </p:cNvSpPr>
          <p:nvPr>
            <p:ph idx="1"/>
          </p:nvPr>
        </p:nvSpPr>
        <p:spPr>
          <a:xfrm>
            <a:off x="2394284" y="2504991"/>
            <a:ext cx="7403432" cy="1848017"/>
          </a:xfrm>
        </p:spPr>
        <p:txBody>
          <a:bodyPr>
            <a:normAutofit lnSpcReduction="10000"/>
          </a:bodyPr>
          <a:lstStyle/>
          <a:p>
            <a:pPr marL="0" indent="0" algn="ctr">
              <a:buNone/>
            </a:pPr>
            <a:r>
              <a:rPr lang="en-US" dirty="0"/>
              <a:t>Similarly, each group also performs differently according to the prestige level of the game. This reflects a particular strategy taken by a particular group, or their strengths in games that have a certain prestige score.</a:t>
            </a:r>
          </a:p>
        </p:txBody>
      </p:sp>
    </p:spTree>
    <p:extLst>
      <p:ext uri="{BB962C8B-B14F-4D97-AF65-F5344CB8AC3E}">
        <p14:creationId xmlns:p14="http://schemas.microsoft.com/office/powerpoint/2010/main" val="358984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6D603-43E3-FBB3-F950-E8C35B3A4945}"/>
              </a:ext>
            </a:extLst>
          </p:cNvPr>
          <p:cNvSpPr>
            <a:spLocks noGrp="1"/>
          </p:cNvSpPr>
          <p:nvPr>
            <p:ph idx="1"/>
          </p:nvPr>
        </p:nvSpPr>
        <p:spPr>
          <a:xfrm>
            <a:off x="7585142" y="1001315"/>
            <a:ext cx="3902412" cy="4855369"/>
          </a:xfrm>
        </p:spPr>
        <p:txBody>
          <a:bodyPr>
            <a:normAutofit lnSpcReduction="10000"/>
          </a:bodyPr>
          <a:lstStyle/>
          <a:p>
            <a:r>
              <a:rPr lang="en-US" dirty="0"/>
              <a:t>Group 1 to 3 have their share of model from quartile 4 of the prestige – higher prestige.</a:t>
            </a:r>
          </a:p>
          <a:p>
            <a:r>
              <a:rPr lang="en-US" dirty="0"/>
              <a:t>Group 4 has its larger share from quartile 1.</a:t>
            </a:r>
          </a:p>
          <a:p>
            <a:r>
              <a:rPr lang="en-US" dirty="0"/>
              <a:t>It is possible that PK and group 4 have similar liabilities making major of their medals from lower prestige games.</a:t>
            </a:r>
          </a:p>
        </p:txBody>
      </p:sp>
      <p:pic>
        <p:nvPicPr>
          <p:cNvPr id="4" name="Picture 3" descr="A screenshot of a graph&#10;&#10;AI-generated content may be incorrect.">
            <a:extLst>
              <a:ext uri="{FF2B5EF4-FFF2-40B4-BE49-F238E27FC236}">
                <a16:creationId xmlns:a16="http://schemas.microsoft.com/office/drawing/2014/main" id="{E80899C3-153F-F876-2E5D-61FE825A70C7}"/>
              </a:ext>
            </a:extLst>
          </p:cNvPr>
          <p:cNvPicPr>
            <a:picLocks noChangeAspect="1"/>
          </p:cNvPicPr>
          <p:nvPr/>
        </p:nvPicPr>
        <p:blipFill>
          <a:blip r:embed="rId2"/>
          <a:stretch>
            <a:fillRect/>
          </a:stretch>
        </p:blipFill>
        <p:spPr>
          <a:xfrm>
            <a:off x="429639" y="1430284"/>
            <a:ext cx="6481199" cy="3997432"/>
          </a:xfrm>
          <a:prstGeom prst="rect">
            <a:avLst/>
          </a:prstGeom>
        </p:spPr>
      </p:pic>
    </p:spTree>
    <p:extLst>
      <p:ext uri="{BB962C8B-B14F-4D97-AF65-F5344CB8AC3E}">
        <p14:creationId xmlns:p14="http://schemas.microsoft.com/office/powerpoint/2010/main" val="2570137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8E446-7286-AD17-307B-1BED4FD27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BB87A-9319-0D2C-C9B0-16C1545DF1F2}"/>
              </a:ext>
            </a:extLst>
          </p:cNvPr>
          <p:cNvSpPr>
            <a:spLocks noGrp="1"/>
          </p:cNvSpPr>
          <p:nvPr>
            <p:ph type="title"/>
          </p:nvPr>
        </p:nvSpPr>
        <p:spPr>
          <a:xfrm>
            <a:off x="838200" y="812597"/>
            <a:ext cx="10515600" cy="1325563"/>
          </a:xfrm>
        </p:spPr>
        <p:txBody>
          <a:bodyPr/>
          <a:lstStyle/>
          <a:p>
            <a:pPr algn="ctr"/>
            <a:r>
              <a:rPr lang="en-US" dirty="0"/>
              <a:t>Strategic Position of Pakistan</a:t>
            </a:r>
          </a:p>
        </p:txBody>
      </p:sp>
      <p:sp>
        <p:nvSpPr>
          <p:cNvPr id="3" name="Content Placeholder 2">
            <a:extLst>
              <a:ext uri="{FF2B5EF4-FFF2-40B4-BE49-F238E27FC236}">
                <a16:creationId xmlns:a16="http://schemas.microsoft.com/office/drawing/2014/main" id="{D05185C7-52C8-2BD8-BD6C-31FF9B5542AD}"/>
              </a:ext>
            </a:extLst>
          </p:cNvPr>
          <p:cNvSpPr>
            <a:spLocks noGrp="1"/>
          </p:cNvSpPr>
          <p:nvPr>
            <p:ph idx="1"/>
          </p:nvPr>
        </p:nvSpPr>
        <p:spPr>
          <a:xfrm>
            <a:off x="2394284" y="2504991"/>
            <a:ext cx="7403432" cy="1848017"/>
          </a:xfrm>
        </p:spPr>
        <p:txBody>
          <a:bodyPr>
            <a:normAutofit lnSpcReduction="10000"/>
          </a:bodyPr>
          <a:lstStyle/>
          <a:p>
            <a:pPr marL="0" indent="0" algn="ctr">
              <a:buNone/>
            </a:pPr>
            <a:r>
              <a:rPr lang="en-US" dirty="0"/>
              <a:t>We will see that Pakistan is getting its large share of medals in lower prestige games. This shows that either that is Pakistan’s strategy, or it has weakness preventing it from succeeding in higher prestige games</a:t>
            </a:r>
          </a:p>
        </p:txBody>
      </p:sp>
    </p:spTree>
    <p:extLst>
      <p:ext uri="{BB962C8B-B14F-4D97-AF65-F5344CB8AC3E}">
        <p14:creationId xmlns:p14="http://schemas.microsoft.com/office/powerpoint/2010/main" val="280878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08298A-51CB-247E-9EEC-23CA9189BB30}"/>
              </a:ext>
            </a:extLst>
          </p:cNvPr>
          <p:cNvSpPr>
            <a:spLocks noGrp="1"/>
          </p:cNvSpPr>
          <p:nvPr>
            <p:ph idx="1"/>
          </p:nvPr>
        </p:nvSpPr>
        <p:spPr>
          <a:xfrm>
            <a:off x="840231" y="1705084"/>
            <a:ext cx="3455821" cy="3447832"/>
          </a:xfrm>
        </p:spPr>
        <p:txBody>
          <a:bodyPr anchor="t">
            <a:normAutofit/>
          </a:bodyPr>
          <a:lstStyle/>
          <a:p>
            <a:r>
              <a:rPr lang="en-US" sz="2000" dirty="0"/>
              <a:t>We clearly see that the medals won by PK are largely in the lower </a:t>
            </a:r>
            <a:r>
              <a:rPr lang="en-US" sz="2000" dirty="0" err="1"/>
              <a:t>prestiege</a:t>
            </a:r>
            <a:r>
              <a:rPr lang="en-US" sz="2000" dirty="0"/>
              <a:t> levels. </a:t>
            </a:r>
          </a:p>
          <a:p>
            <a:r>
              <a:rPr lang="en-US" sz="2000" dirty="0"/>
              <a:t>This shows Pakistan is either not interested in higher prestige games or lacks competitiveness in them.</a:t>
            </a:r>
          </a:p>
        </p:txBody>
      </p:sp>
      <p:pic>
        <p:nvPicPr>
          <p:cNvPr id="4" name="Picture 3" descr="A graph with blue bars&#10;&#10;AI-generated content may be incorrect.">
            <a:extLst>
              <a:ext uri="{FF2B5EF4-FFF2-40B4-BE49-F238E27FC236}">
                <a16:creationId xmlns:a16="http://schemas.microsoft.com/office/drawing/2014/main" id="{9D18B466-071E-DAA4-D9FF-6E9826492A80}"/>
              </a:ext>
            </a:extLst>
          </p:cNvPr>
          <p:cNvPicPr>
            <a:picLocks noChangeAspect="1"/>
          </p:cNvPicPr>
          <p:nvPr/>
        </p:nvPicPr>
        <p:blipFill>
          <a:blip r:embed="rId2"/>
          <a:stretch>
            <a:fillRect/>
          </a:stretch>
        </p:blipFill>
        <p:spPr>
          <a:xfrm>
            <a:off x="4987672" y="1005704"/>
            <a:ext cx="6389346" cy="4855902"/>
          </a:xfrm>
          <a:prstGeom prst="rect">
            <a:avLst/>
          </a:prstGeom>
        </p:spPr>
      </p:pic>
    </p:spTree>
    <p:extLst>
      <p:ext uri="{BB962C8B-B14F-4D97-AF65-F5344CB8AC3E}">
        <p14:creationId xmlns:p14="http://schemas.microsoft.com/office/powerpoint/2010/main" val="56264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BA3CD-A82B-8D08-9B7D-FEF44A9CB1A9}"/>
              </a:ext>
            </a:extLst>
          </p:cNvPr>
          <p:cNvSpPr>
            <a:spLocks noGrp="1"/>
          </p:cNvSpPr>
          <p:nvPr>
            <p:ph idx="1"/>
          </p:nvPr>
        </p:nvSpPr>
        <p:spPr>
          <a:xfrm>
            <a:off x="838200" y="3012167"/>
            <a:ext cx="10515600" cy="416833"/>
          </a:xfrm>
        </p:spPr>
        <p:txBody>
          <a:bodyPr>
            <a:noAutofit/>
          </a:bodyPr>
          <a:lstStyle/>
          <a:p>
            <a:pPr marL="0" indent="0" algn="ctr">
              <a:buNone/>
            </a:pPr>
            <a:r>
              <a:rPr lang="en-US" sz="6600" dirty="0"/>
              <a:t>THANK YOU</a:t>
            </a:r>
          </a:p>
        </p:txBody>
      </p:sp>
    </p:spTree>
    <p:extLst>
      <p:ext uri="{BB962C8B-B14F-4D97-AF65-F5344CB8AC3E}">
        <p14:creationId xmlns:p14="http://schemas.microsoft.com/office/powerpoint/2010/main" val="2391863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219</TotalTime>
  <Words>295</Words>
  <Application>Microsoft Office PowerPoint</Application>
  <PresentationFormat>Widescreen</PresentationFormat>
  <Paragraphs>21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Unpacking The Data From The Game Dataset</vt:lpstr>
      <vt:lpstr>How does performance  vary with prestige?</vt:lpstr>
      <vt:lpstr>PowerPoint Presentation</vt:lpstr>
      <vt:lpstr>PowerPoint Presentation</vt:lpstr>
      <vt:lpstr>Group Structure and Prestige</vt:lpstr>
      <vt:lpstr>PowerPoint Presentation</vt:lpstr>
      <vt:lpstr>Strategic Position of Pakistan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Aamir</dc:creator>
  <cp:lastModifiedBy>Hassan Aamir</cp:lastModifiedBy>
  <cp:revision>2</cp:revision>
  <dcterms:created xsi:type="dcterms:W3CDTF">2025-11-23T16:04:56Z</dcterms:created>
  <dcterms:modified xsi:type="dcterms:W3CDTF">2025-11-23T19:44:41Z</dcterms:modified>
</cp:coreProperties>
</file>